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563EB"/>
                </a:solidFill>
                <a:latin typeface="Calibri"/>
              </a:defRPr>
            </a:pPr>
            <a:r>
              <a:t>COSDUCK  ×  HEJHOME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Hejhome Japan Market</a:t>
            </a:r>
            <a:br/>
            <a:r>
              <a:t>Entry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474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Calibri"/>
              </a:defRPr>
            </a:pPr>
            <a:r>
              <a:t>일본 스마트홈 / 홈카메라 시장 진출 전략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4297680"/>
            <a:ext cx="27432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5720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(주)마야크루  Cosduck | 코스덕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9834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손혜빈  Winter  ·  Amazon Team Lead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3492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2026.05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왜 지금, 일본 스마트홈 시장인가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68680"/>
            <a:ext cx="1645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2514600" cy="265176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251460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시장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2148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일본 스마트홈 시장은 2026년 $117.7억 → 2031년 $177.7억.</a:t>
            </a:r>
            <a:br/>
            <a:r>
              <a:t>홈카메라 CAGR 14.7%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01568" y="1371600"/>
            <a:ext cx="2514600" cy="265176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01568" y="1371600"/>
            <a:ext cx="2514600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4448" y="160020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59669"/>
                </a:solidFill>
                <a:latin typeface="Calibri"/>
              </a:defRPr>
            </a:pPr>
            <a:r>
              <a:t>수요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2057400"/>
            <a:ext cx="2148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고령화(65세+ 독거 20%), 반려동물 2,000만두,</a:t>
            </a:r>
            <a:br/>
            <a:r>
              <a:t>1인 가구 34%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1371600"/>
            <a:ext cx="2514600" cy="265176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63056" y="1371600"/>
            <a:ext cx="2514600" cy="640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5936" y="160020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97706"/>
                </a:solidFill>
                <a:latin typeface="Calibri"/>
              </a:defRPr>
            </a:pPr>
            <a:r>
              <a:t>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5936" y="2057400"/>
            <a:ext cx="2148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Amazon JP 홈카메라 카테고리에 한국 브랜드 0개.</a:t>
            </a:r>
            <a:br/>
            <a:r>
              <a:t>헤이홈은 150만 앱 사용자 + LG전자 투자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24544" y="1371600"/>
            <a:ext cx="2514600" cy="265176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24544" y="1371600"/>
            <a:ext cx="2514600" cy="64008"/>
          </a:xfrm>
          <a:prstGeom prst="rect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07424" y="160020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B3D"/>
                </a:solidFill>
                <a:latin typeface="Calibri"/>
              </a:defRPr>
            </a:pPr>
            <a:r>
              <a:t>전략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07424" y="2057400"/>
            <a:ext cx="2148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코스덕은 인플루언서 시딩에서 끝내지 않고,</a:t>
            </a:r>
            <a:br/>
            <a:r>
              <a:t>Amazon Japan 판매 전환까지 설계. ROAS 20.9x 실적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434840"/>
            <a:ext cx="10881360" cy="822960"/>
          </a:xfrm>
          <a:prstGeom prst="roundRect">
            <a:avLst>
              <a:gd name="adj" fmla="val 2000"/>
            </a:avLst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52628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“시딩 칠페인이 아닌, Amazon 판매 전환까지 연결되는 3개월 시장 진입 프로젝트”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일본 스마트홈 시장, 지금이 진출 적기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68680"/>
            <a:ext cx="1645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2697480" cy="14630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27632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563EB"/>
                </a:solidFill>
                <a:latin typeface="Calibri"/>
              </a:defRPr>
            </a:pPr>
            <a:r>
              <a:t>29%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4028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Calibri"/>
              </a:defRPr>
            </a:pPr>
            <a:r>
              <a:t>65세 이상 고령자 비율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463040"/>
            <a:ext cx="2697480" cy="14630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627632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59669"/>
                </a:solidFill>
                <a:latin typeface="Calibri"/>
              </a:defRPr>
            </a:pPr>
            <a:r>
              <a:t>34%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24028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Calibri"/>
              </a:defRPr>
            </a:pPr>
            <a:r>
              <a:t>1인 가구 비율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463040"/>
            <a:ext cx="2697480" cy="14630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627632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D97706"/>
                </a:solidFill>
                <a:latin typeface="Calibri"/>
              </a:defRPr>
            </a:pPr>
            <a:r>
              <a:t>2,000만+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24028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Calibri"/>
              </a:defRPr>
            </a:pPr>
            <a:r>
              <a:t>반려동물 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60" y="1463040"/>
            <a:ext cx="2697480" cy="14630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0" y="1627632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F1B3D"/>
                </a:solidFill>
                <a:latin typeface="Calibri"/>
              </a:defRPr>
            </a:pPr>
            <a:r>
              <a:t>63.4%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224028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E293B"/>
                </a:solidFill>
                <a:latin typeface="Calibri"/>
              </a:defRPr>
            </a:pPr>
            <a:r>
              <a:t>온라인 구매 비율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38328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B3D"/>
                </a:solidFill>
                <a:latin typeface="Calibri"/>
              </a:defRPr>
            </a:pPr>
            <a:r>
              <a:t>돌봄 · 안전 · 모니터링 니즈가 스마트홈 성장을 견인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114800"/>
            <a:ext cx="2697480" cy="228600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114800"/>
            <a:ext cx="269748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2976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Calibri"/>
              </a:defRPr>
            </a:pPr>
            <a:r>
              <a:t>고령화 사회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709160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E293B"/>
                </a:solidFill>
                <a:latin typeface="Calibri"/>
              </a:defRPr>
            </a:pPr>
            <a:r>
              <a:t>65세 이상 인구 3,600만 명</a:t>
            </a:r>
            <a:br/>
            <a:r>
              <a:t>독거 고령자 약 20%</a:t>
            </a:r>
            <a:br/>
            <a:r>
              <a:t>돌봄 카메라 수요 급증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20440" y="4114800"/>
            <a:ext cx="2697480" cy="228600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520440" y="4114800"/>
            <a:ext cx="269748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03320" y="42976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59669"/>
                </a:solidFill>
                <a:latin typeface="Calibri"/>
              </a:defRPr>
            </a:pPr>
            <a:r>
              <a:t>반려동물 경제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4709160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E293B"/>
                </a:solidFill>
                <a:latin typeface="Calibri"/>
              </a:defRPr>
            </a:pPr>
            <a:r>
              <a:t>반려동물 2,000만두 돌파</a:t>
            </a:r>
            <a:br/>
            <a:r>
              <a:t>ペットカメラ 검색량 증가</a:t>
            </a:r>
            <a:br/>
            <a:r>
              <a:t>외출 시 모니터링 니즈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114800"/>
            <a:ext cx="2697480" cy="228600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4114800"/>
            <a:ext cx="269748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42976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97706"/>
                </a:solidFill>
                <a:latin typeface="Calibri"/>
              </a:defRPr>
            </a:pPr>
            <a:r>
              <a:t>1인 가구 증가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709160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E293B"/>
                </a:solidFill>
                <a:latin typeface="Calibri"/>
              </a:defRPr>
            </a:pPr>
            <a:r>
              <a:t>전체 가구의 34%가 1인 가구</a:t>
            </a:r>
            <a:br/>
            <a:r>
              <a:t>보안·방범 관심 증가</a:t>
            </a:r>
            <a:br/>
            <a:r>
              <a:t>스마트홈 얼리어답터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81160" y="4114800"/>
            <a:ext cx="2697480" cy="228600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281160" y="4114800"/>
            <a:ext cx="2697480" cy="54864"/>
          </a:xfrm>
          <a:prstGeom prst="rect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64040" y="42976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B3D"/>
                </a:solidFill>
                <a:latin typeface="Calibri"/>
              </a:defRPr>
            </a:pPr>
            <a:r>
              <a:t>온라인 쇼핑 전환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64040" y="4709160"/>
            <a:ext cx="2331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E293B"/>
                </a:solidFill>
                <a:latin typeface="Calibri"/>
              </a:defRPr>
            </a:pPr>
            <a:r>
              <a:t>EC 비율 63.4%로 상승 중</a:t>
            </a:r>
            <a:br/>
            <a:r>
              <a:t>Amazon JP 점유율 35%</a:t>
            </a:r>
            <a:br/>
            <a:r>
              <a:t>리뷰 기반 구매 결정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복수 리서치 기관이 일본 스마트홈 시장의 지속 성장을 전망합니다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68680"/>
            <a:ext cx="1645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2926080" cy="502920"/>
          </a:xfrm>
          <a:prstGeom prst="rect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4475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리서치 기관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0" y="1371600"/>
            <a:ext cx="2286000" cy="502920"/>
          </a:xfrm>
          <a:prstGeom prst="rect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444752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2026 시장 규모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0" y="1371600"/>
            <a:ext cx="2286000" cy="502920"/>
          </a:xfrm>
          <a:prstGeom prst="rect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1444752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2031 전망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371600"/>
            <a:ext cx="1828800" cy="502920"/>
          </a:xfrm>
          <a:prstGeom prst="rect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44475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CAGR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66960" y="1371600"/>
            <a:ext cx="1554480" cy="502920"/>
          </a:xfrm>
          <a:prstGeom prst="rect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144475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카테고리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1874520"/>
            <a:ext cx="2926080" cy="502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194767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1E293B"/>
                </a:solidFill>
                <a:latin typeface="Calibri"/>
              </a:defRPr>
            </a:pPr>
            <a:r>
              <a:t>Mordor Intelligence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66160" y="1874520"/>
            <a:ext cx="2286000" cy="502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1947672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1E293B"/>
                </a:solidFill>
                <a:latin typeface="Calibri"/>
              </a:defRPr>
            </a:pPr>
            <a:r>
              <a:t>$117.7억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0" y="1874520"/>
            <a:ext cx="2286000" cy="502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0" y="1947672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1E293B"/>
                </a:solidFill>
                <a:latin typeface="Calibri"/>
              </a:defRPr>
            </a:pPr>
            <a:r>
              <a:t>$177.7억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1874520"/>
            <a:ext cx="1828800" cy="502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194767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2563EB"/>
                </a:solidFill>
                <a:latin typeface="Calibri"/>
              </a:defRPr>
            </a:pPr>
            <a:r>
              <a:t>8.58%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966960" y="1874520"/>
            <a:ext cx="1554480" cy="502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0" y="194767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1E293B"/>
                </a:solidFill>
                <a:latin typeface="Calibri"/>
              </a:defRPr>
            </a:pPr>
            <a:r>
              <a:t>스마트홈 전체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2377440"/>
            <a:ext cx="29260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245059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1E293B"/>
                </a:solidFill>
                <a:latin typeface="Calibri"/>
              </a:defRPr>
            </a:pPr>
            <a:r>
              <a:t>IMARC Group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66160" y="2377440"/>
            <a:ext cx="22860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0" y="2450592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1E293B"/>
                </a:solidFill>
                <a:latin typeface="Calibri"/>
              </a:defRPr>
            </a:pPr>
            <a:r>
              <a:t>$81억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52160" y="2377440"/>
            <a:ext cx="22860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0" y="2450592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1E293B"/>
                </a:solidFill>
                <a:latin typeface="Calibri"/>
              </a:defRPr>
            </a:pPr>
            <a:r>
              <a:t>$226억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38160" y="2377440"/>
            <a:ext cx="18288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0" y="245059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2563EB"/>
                </a:solidFill>
                <a:latin typeface="Calibri"/>
              </a:defRPr>
            </a:pPr>
            <a:r>
              <a:t>10.80%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966960" y="2377440"/>
            <a:ext cx="1554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0" y="245059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1E293B"/>
                </a:solidFill>
                <a:latin typeface="Calibri"/>
              </a:defRPr>
            </a:pPr>
            <a:r>
              <a:t>스마트홈 전체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2880360"/>
            <a:ext cx="2926080" cy="502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295351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1E293B"/>
                </a:solidFill>
                <a:latin typeface="Calibri"/>
              </a:defRPr>
            </a:pPr>
            <a:r>
              <a:t>Future Market Insights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66160" y="2880360"/>
            <a:ext cx="2286000" cy="502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0" y="2953512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1E293B"/>
                </a:solidFill>
                <a:latin typeface="Calibri"/>
              </a:defRPr>
            </a:pPr>
            <a:r>
              <a:t>$6억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52160" y="2880360"/>
            <a:ext cx="2286000" cy="502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0" y="2953512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1E293B"/>
                </a:solidFill>
                <a:latin typeface="Calibri"/>
              </a:defRPr>
            </a:pPr>
            <a:r>
              <a:t>$25억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38160" y="2880360"/>
            <a:ext cx="1828800" cy="502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0" y="295351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2563EB"/>
                </a:solidFill>
                <a:latin typeface="Calibri"/>
              </a:defRPr>
            </a:pPr>
            <a:r>
              <a:t>14.7%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966960" y="2880360"/>
            <a:ext cx="1554480" cy="502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58400" y="295351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1E293B"/>
                </a:solidFill>
                <a:latin typeface="Calibri"/>
              </a:defRPr>
            </a:pPr>
            <a:r>
              <a:t>보안카메라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" y="3474720"/>
            <a:ext cx="2743200" cy="1371600"/>
          </a:xfrm>
          <a:prstGeom prst="roundRect">
            <a:avLst>
              <a:gd name="adj" fmla="val 2000"/>
            </a:avLst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36118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563EB"/>
                </a:solidFill>
                <a:latin typeface="Calibri"/>
              </a:defRPr>
            </a:pPr>
            <a:r>
              <a:t>$117.7B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42519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스마트홈 전체 시장</a:t>
            </a:r>
            <a:br/>
            <a:r>
              <a:t>(2026)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566160" y="3474720"/>
            <a:ext cx="2743200" cy="1371600"/>
          </a:xfrm>
          <a:prstGeom prst="roundRect">
            <a:avLst>
              <a:gd name="adj" fmla="val 2000"/>
            </a:avLst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749040" y="36118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59669"/>
                </a:solidFill>
                <a:latin typeface="Calibri"/>
              </a:defRPr>
            </a:pPr>
            <a:r>
              <a:t>14.7%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49040" y="42519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보안카메라 CAGR</a:t>
            </a:r>
            <a:br/>
            <a:r>
              <a:t>(2026-2031)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일본 홈카메라 수요를 만드는 5가지 니즈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68680"/>
            <a:ext cx="1645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2011680" cy="201168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201168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25880" y="1600200"/>
            <a:ext cx="640080" cy="6400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563EB"/>
                </a:solidFill>
                <a:latin typeface="Calibri"/>
              </a:defRPr>
            </a:pPr>
            <a:r>
              <a:t>ペットカメラ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반려동물 모니터링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1371600"/>
            <a:ext cx="2011680" cy="201168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34640" y="1371600"/>
            <a:ext cx="201168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20440" y="1600200"/>
            <a:ext cx="640080" cy="64008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2377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59669"/>
                </a:solidFill>
                <a:latin typeface="Calibri"/>
              </a:defRPr>
            </a:pPr>
            <a:r>
              <a:t>見守りカメラ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788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고령 부모 돌봄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1371600"/>
            <a:ext cx="2011680" cy="201168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0" y="1371600"/>
            <a:ext cx="201168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15000" y="1600200"/>
            <a:ext cx="640080" cy="64008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2377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97706"/>
                </a:solidFill>
                <a:latin typeface="Calibri"/>
              </a:defRPr>
            </a:pPr>
            <a:r>
              <a:t>ベビーモニター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788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육아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23760" y="1371600"/>
            <a:ext cx="2011680" cy="201168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23760" y="1371600"/>
            <a:ext cx="2011680" cy="54864"/>
          </a:xfrm>
          <a:prstGeom prst="rect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909560" y="1600200"/>
            <a:ext cx="640080" cy="640080"/>
          </a:xfrm>
          <a:prstGeom prst="ellipse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0" y="2377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B3D"/>
                </a:solidFill>
                <a:latin typeface="Calibri"/>
              </a:defRPr>
            </a:pPr>
            <a:r>
              <a:t>防犯カメラ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2788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방범 · 보안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18320" y="1371600"/>
            <a:ext cx="2011680" cy="201168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418320" y="1371600"/>
            <a:ext cx="201168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104120" y="1600200"/>
            <a:ext cx="640080" cy="6400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9760" y="2377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C3AED"/>
                </a:solidFill>
                <a:latin typeface="Calibri"/>
              </a:defRPr>
            </a:pPr>
            <a:r>
              <a:t>スマートホーム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0" y="2788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1인 가구 편의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3840480"/>
            <a:ext cx="10881360" cy="1463040"/>
          </a:xfrm>
          <a:prstGeom prst="roundRect">
            <a:avLst>
              <a:gd name="adj" fmla="val 2000"/>
            </a:avLst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397763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헤이홈 홈카메라 Pro+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4348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500만화소  ·  회전형  ·  모션추적  ·  야간컴러  ·  양방향음성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463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  <a:latin typeface="Calibri"/>
              </a:defRPr>
            </a:pPr>
            <a:r>
              <a:t>5가지 핵심 니즈를 하나의 제품으로 충족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Amazon Japan이 핵심 유통 채널인 이유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68680"/>
            <a:ext cx="1645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3474720" cy="118872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73152" cy="1188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563EB"/>
                </a:solidFill>
                <a:latin typeface="Calibri"/>
              </a:defRPr>
            </a:pPr>
            <a:r>
              <a:t>$726억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Amazon JP GMV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19" y="1280160"/>
            <a:ext cx="3474720" cy="118872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19" y="1280160"/>
            <a:ext cx="73152" cy="1188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39" y="137160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59669"/>
                </a:solidFill>
                <a:latin typeface="Calibri"/>
              </a:defRPr>
            </a:pPr>
            <a:r>
              <a:t>35%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39" y="1920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EC 트래픽 1위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58" y="1280160"/>
            <a:ext cx="3474720" cy="118872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58" y="1280160"/>
            <a:ext cx="73152" cy="11887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8" y="137160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97706"/>
                </a:solidFill>
                <a:latin typeface="Calibri"/>
              </a:defRPr>
            </a:pPr>
            <a:r>
              <a:t>63.4%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8" y="1920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온라인 구매 비율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B3D"/>
                </a:solidFill>
                <a:latin typeface="Calibri"/>
              </a:defRPr>
            </a:pPr>
            <a:r>
              <a:t>소비자 구매 여정 (Consumer Journey)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291840"/>
            <a:ext cx="2560320" cy="685800"/>
          </a:xfrm>
          <a:prstGeom prst="roundRect">
            <a:avLst>
              <a:gd name="adj" fmla="val 2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33756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Step 1  Amazon 키워드 검색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37560" y="3291840"/>
            <a:ext cx="2560320" cy="685800"/>
          </a:xfrm>
          <a:prstGeom prst="roundRect">
            <a:avLst>
              <a:gd name="adj" fmla="val 2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29000" y="333756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Step 2  리뷰 · 별점 확인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0" y="3291840"/>
            <a:ext cx="2560320" cy="685800"/>
          </a:xfrm>
          <a:prstGeom prst="roundRect">
            <a:avLst>
              <a:gd name="adj" fmla="val 2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333756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Step 3  상세페이지 비교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32520" y="3291840"/>
            <a:ext cx="2560320" cy="685800"/>
          </a:xfrm>
          <a:prstGeom prst="roundRect">
            <a:avLst>
              <a:gd name="adj" fmla="val 2000"/>
            </a:avLst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23960" y="333756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Step 4  구매 결정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297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B3D"/>
                </a:solidFill>
                <a:latin typeface="Calibri"/>
              </a:defRPr>
            </a:pPr>
            <a:r>
              <a:t>주요 타겟 키워드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754880"/>
            <a:ext cx="2651760" cy="59436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8006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563EB"/>
                </a:solidFill>
                <a:latin typeface="Calibri"/>
              </a:defRPr>
            </a:pPr>
            <a:r>
              <a:t>見守りカメラ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74720" y="4754880"/>
            <a:ext cx="2651760" cy="59436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48006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563EB"/>
                </a:solidFill>
                <a:latin typeface="Calibri"/>
              </a:defRPr>
            </a:pPr>
            <a:r>
              <a:t>ペットカメラ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4754880"/>
            <a:ext cx="2651760" cy="59436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48006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563EB"/>
                </a:solidFill>
                <a:latin typeface="Calibri"/>
              </a:defRPr>
            </a:pPr>
            <a:r>
              <a:t>防犯カメラ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0" y="4754880"/>
            <a:ext cx="2651760" cy="59436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35440" y="48006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563EB"/>
                </a:solidFill>
                <a:latin typeface="Calibri"/>
              </a:defRPr>
            </a:pPr>
            <a:r>
              <a:t>ベビーモニター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Amazon JP 홈카메라 경쟁 현황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68680"/>
            <a:ext cx="1645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3200400" cy="457200"/>
          </a:xfrm>
          <a:prstGeom prst="rect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제품명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0" y="1234440"/>
            <a:ext cx="1828800" cy="457200"/>
          </a:xfrm>
          <a:prstGeom prst="rect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0" y="12801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가격 (¥)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0" y="1234440"/>
            <a:ext cx="2286000" cy="457200"/>
          </a:xfrm>
          <a:prstGeom prst="rect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0" y="12801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브랜드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80" y="1234440"/>
            <a:ext cx="3566160" cy="457200"/>
          </a:xfrm>
          <a:prstGeom prst="rect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12801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포지션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1691640"/>
            <a:ext cx="320040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7373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Tapo C210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0" y="1691640"/>
            <a:ext cx="182880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31920" y="17373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¥3,987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0" y="1691640"/>
            <a:ext cx="228600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0" y="17373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TP-Link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55280" y="1691640"/>
            <a:ext cx="356616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1737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저가 엔트리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2148840"/>
            <a:ext cx="3200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21945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Tapo C220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0" y="2148840"/>
            <a:ext cx="18288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31920" y="21945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¥4,280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0" y="2148840"/>
            <a:ext cx="2286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0" y="2194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TP-Link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55280" y="2148840"/>
            <a:ext cx="35661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0" y="21945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중저가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2606040"/>
            <a:ext cx="320040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26517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Eufy IndoorCam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40480" y="2606040"/>
            <a:ext cx="182880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31920" y="2651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¥4,490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0" y="2606040"/>
            <a:ext cx="228600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0720" y="2651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Anker/Eufy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55280" y="2606040"/>
            <a:ext cx="356616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0" y="2651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중저가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3063240"/>
            <a:ext cx="3200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1089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Tapo C410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840480" y="3063240"/>
            <a:ext cx="18288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931920" y="3108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¥8,800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0" y="3063240"/>
            <a:ext cx="2286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60720" y="3108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TP-Link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955280" y="3063240"/>
            <a:ext cx="35661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46720" y="31089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중가 야외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" y="3520440"/>
            <a:ext cx="320040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35661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Panasonic PetCam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840480" y="3520440"/>
            <a:ext cx="182880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931920" y="35661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¥15,670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69280" y="3520440"/>
            <a:ext cx="228600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760720" y="35661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Panasonic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55280" y="3520440"/>
            <a:ext cx="356616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46720" y="35661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프리미엄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" y="3977640"/>
            <a:ext cx="3200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1520" y="40233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Eufy SoloCam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40480" y="3977640"/>
            <a:ext cx="18288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31920" y="40233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¥20,110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669280" y="3977640"/>
            <a:ext cx="2286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760720" y="40233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Anker/Eufy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955280" y="3977640"/>
            <a:ext cx="35661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046720" y="4023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Calibri"/>
              </a:defRPr>
            </a:pPr>
            <a:r>
              <a:t>프리미엄 야외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40080" y="4297680"/>
            <a:ext cx="5303520" cy="1097280"/>
          </a:xfrm>
          <a:prstGeom prst="roundRect">
            <a:avLst>
              <a:gd name="adj" fmla="val 2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4400" y="43891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한국 브랜드 0개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4400" y="4892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선점 기회가 열려 있음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309360" y="4297680"/>
            <a:ext cx="5303520" cy="1097280"/>
          </a:xfrm>
          <a:prstGeom prst="roundRect">
            <a:avLst>
              <a:gd name="adj" fmla="val 2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583680" y="43891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¥6,000 ~ 8,000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83680" y="4892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가격대 비어있음 (Sweet spot)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헤이홈, 일본 시장에서의 차별화 포인트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68680"/>
            <a:ext cx="1645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2697480" cy="2103120"/>
          </a:xfrm>
          <a:prstGeom prst="roundRect">
            <a:avLst>
              <a:gd name="adj" fmla="val 2000"/>
            </a:avLst>
          </a:prstGeom>
          <a:solidFill>
            <a:srgbClr val="1E3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269748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54480" y="1554480"/>
            <a:ext cx="640080" cy="6400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검증된 브랜드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4320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150만 앱 사용자</a:t>
            </a:r>
            <a:br/>
            <a:r>
              <a:t>한국 스마트홈 시장 검증 완료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371600"/>
            <a:ext cx="2697480" cy="2103120"/>
          </a:xfrm>
          <a:prstGeom prst="roundRect">
            <a:avLst>
              <a:gd name="adj" fmla="val 2000"/>
            </a:avLst>
          </a:prstGeom>
          <a:solidFill>
            <a:srgbClr val="1E3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0440" y="1371600"/>
            <a:ext cx="269748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34840" y="1554480"/>
            <a:ext cx="640080" cy="64008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233172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투자 신뢰도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74320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200억원 투자 유치</a:t>
            </a:r>
            <a:br/>
            <a:r>
              <a:t>LG전자 등 전략적 투자자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371600"/>
            <a:ext cx="2697480" cy="2103120"/>
          </a:xfrm>
          <a:prstGeom prst="roundRect">
            <a:avLst>
              <a:gd name="adj" fmla="val 2000"/>
            </a:avLst>
          </a:prstGeom>
          <a:solidFill>
            <a:srgbClr val="1E3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371600"/>
            <a:ext cx="269748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0" y="1554480"/>
            <a:ext cx="640080" cy="64008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33172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제품 경쟁력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74320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Pro+ 500만화소</a:t>
            </a:r>
            <a:br/>
            <a:r>
              <a:t>회전·모션추적·야간컴러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81160" y="1371600"/>
            <a:ext cx="2697480" cy="2103120"/>
          </a:xfrm>
          <a:prstGeom prst="roundRect">
            <a:avLst>
              <a:gd name="adj" fmla="val 2000"/>
            </a:avLst>
          </a:prstGeom>
          <a:solidFill>
            <a:srgbClr val="1E3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81160" y="1371600"/>
            <a:ext cx="269748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195560" y="1554480"/>
            <a:ext cx="640080" cy="6400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0" y="233172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앱 생태계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274320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통합 앱 경험</a:t>
            </a:r>
            <a:br/>
            <a:r>
              <a:t>다양한 IoT 기기 연동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840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제품 라인업 &amp; 예상 가격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343400"/>
            <a:ext cx="411480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38912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제품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54880" y="4343400"/>
            <a:ext cx="274320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0" y="43891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예상 가격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80" y="4343400"/>
            <a:ext cx="228600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0" y="43891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우선순위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4754880"/>
            <a:ext cx="4114800" cy="411480"/>
          </a:xfrm>
          <a:prstGeom prst="rect">
            <a:avLst/>
          </a:prstGeom>
          <a:solidFill>
            <a:srgbClr val="1E3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8006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홈카메라 Pro+  5MP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54880" y="4754880"/>
            <a:ext cx="2743200" cy="411480"/>
          </a:xfrm>
          <a:prstGeom prst="rect">
            <a:avLst/>
          </a:prstGeom>
          <a:solidFill>
            <a:srgbClr val="1E3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46320" y="4800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¥6,000 ~ 8,000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8080" y="4754880"/>
            <a:ext cx="2286000" cy="411480"/>
          </a:xfrm>
          <a:prstGeom prst="rect">
            <a:avLst/>
          </a:prstGeom>
          <a:solidFill>
            <a:srgbClr val="1E3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89520" y="48006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563EB"/>
                </a:solidFill>
                <a:latin typeface="Calibri"/>
              </a:defRPr>
            </a:pPr>
            <a:r>
              <a:t>PRIORITY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5166360"/>
            <a:ext cx="4114800" cy="411480"/>
          </a:xfrm>
          <a:prstGeom prst="rect">
            <a:avLst/>
          </a:prstGeom>
          <a:solidFill>
            <a:srgbClr val="1E3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52120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홈카메라 Pro  3MP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54880" y="5166360"/>
            <a:ext cx="2743200" cy="411480"/>
          </a:xfrm>
          <a:prstGeom prst="rect">
            <a:avLst/>
          </a:prstGeom>
          <a:solidFill>
            <a:srgbClr val="1E3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46320" y="5212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¥3,500 ~ 4,500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8080" y="5166360"/>
            <a:ext cx="2286000" cy="411480"/>
          </a:xfrm>
          <a:prstGeom prst="rect">
            <a:avLst/>
          </a:prstGeom>
          <a:solidFill>
            <a:srgbClr val="1E3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89520" y="52120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44" name="Rectangle 43"/>
          <p:cNvSpPr/>
          <p:nvPr/>
        </p:nvSpPr>
        <p:spPr>
          <a:xfrm>
            <a:off x="640080" y="5577840"/>
            <a:ext cx="4114800" cy="411480"/>
          </a:xfrm>
          <a:prstGeom prst="rect">
            <a:avLst/>
          </a:prstGeom>
          <a:solidFill>
            <a:srgbClr val="1E3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562356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스마트 리모컨 허브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54880" y="5577840"/>
            <a:ext cx="2743200" cy="411480"/>
          </a:xfrm>
          <a:prstGeom prst="rect">
            <a:avLst/>
          </a:prstGeom>
          <a:solidFill>
            <a:srgbClr val="1E3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46320" y="56235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¥4,500 ~ 6,000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98080" y="5577840"/>
            <a:ext cx="2286000" cy="411480"/>
          </a:xfrm>
          <a:prstGeom prst="rect">
            <a:avLst/>
          </a:prstGeom>
          <a:solidFill>
            <a:srgbClr val="1E3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89520" y="56235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3개월 시장 진입 로드맵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68680"/>
            <a:ext cx="1645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611880" cy="301752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361188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554480"/>
            <a:ext cx="1097280" cy="365760"/>
          </a:xfrm>
          <a:prstGeom prst="roundRect">
            <a:avLst>
              <a:gd name="adj" fmla="val 2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7276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Month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1168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테스트 &amp; 데이터 확보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50 ~ 60개 시딩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88920"/>
            <a:ext cx="3337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•  인플루언서 리스트업 &amp; 섭외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1E293B"/>
                </a:solidFill>
                <a:latin typeface="Calibri"/>
              </a:defRPr>
            </a:pPr>
            <a:r>
              <a:t>•  제품 배송 &amp; 콘텐츠 가이드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1E293B"/>
                </a:solidFill>
                <a:latin typeface="Calibri"/>
              </a:defRPr>
            </a:pPr>
            <a:r>
              <a:t>•  초기 반응 데이터 수집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371600"/>
            <a:ext cx="3611880" cy="301752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371600"/>
            <a:ext cx="3611880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0" y="1554480"/>
            <a:ext cx="1097280" cy="365760"/>
          </a:xfrm>
          <a:prstGeom prst="roundRect">
            <a:avLst>
              <a:gd name="adj" fmla="val 2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57276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Month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01168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최적화 &amp; 광고 시작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37744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59669"/>
                </a:solidFill>
                <a:latin typeface="Calibri"/>
              </a:defRPr>
            </a:pPr>
            <a:r>
              <a:t>70 ~ 80개 시딩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788920"/>
            <a:ext cx="3337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•  고성과 콘텐츠 Spark Ads 전환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1E293B"/>
                </a:solidFill>
                <a:latin typeface="Calibri"/>
              </a:defRPr>
            </a:pPr>
            <a:r>
              <a:t>•  Amazon SP/SB 광고 시작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1E293B"/>
                </a:solidFill>
                <a:latin typeface="Calibri"/>
              </a:defRPr>
            </a:pPr>
            <a:r>
              <a:t>•  키워드 최적화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371600"/>
            <a:ext cx="3611880" cy="301752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371600"/>
            <a:ext cx="3611880" cy="640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66760" y="1554480"/>
            <a:ext cx="1097280" cy="365760"/>
          </a:xfrm>
          <a:prstGeom prst="roundRect">
            <a:avLst>
              <a:gd name="adj" fmla="val 2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157276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Month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01168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집중 &amp; Amazon 전환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2377440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97706"/>
                </a:solidFill>
                <a:latin typeface="Calibri"/>
              </a:defRPr>
            </a:pPr>
            <a:r>
              <a:t>70 ~ 80개 시딩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2788920"/>
            <a:ext cx="3337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•  리뷰 확보 캄페인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1E293B"/>
                </a:solidFill>
                <a:latin typeface="Calibri"/>
              </a:defRPr>
            </a:pPr>
            <a:r>
              <a:t>•  판매 전환 극대화</a:t>
            </a:r>
          </a:p>
          <a:p>
            <a:pPr algn="l">
              <a:spcBef>
                <a:spcPts val="400"/>
              </a:spcBef>
              <a:defRPr sz="1100" b="0">
                <a:solidFill>
                  <a:srgbClr val="1E293B"/>
                </a:solidFill>
                <a:latin typeface="Calibri"/>
              </a:defRPr>
            </a:pPr>
            <a:r>
              <a:t>•  성과 리포트 &amp; 차기 계획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B3D"/>
                </a:solidFill>
                <a:latin typeface="Calibri"/>
              </a:defRPr>
            </a:pPr>
            <a:r>
              <a:t>Pipeline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074920"/>
            <a:ext cx="2011680" cy="777240"/>
          </a:xfrm>
          <a:prstGeom prst="roundRect">
            <a:avLst>
              <a:gd name="adj" fmla="val 2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102352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인플루언서</a:t>
            </a:r>
            <a:br/>
            <a:r>
              <a:t>시딩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88920" y="5074920"/>
            <a:ext cx="2011680" cy="777240"/>
          </a:xfrm>
          <a:prstGeom prst="roundRect">
            <a:avLst>
              <a:gd name="adj" fmla="val 2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34640" y="5102352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오가닉</a:t>
            </a:r>
            <a:br/>
            <a:r>
              <a:t>반응 분석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937760" y="5074920"/>
            <a:ext cx="2011680" cy="777240"/>
          </a:xfrm>
          <a:prstGeom prst="roundRect">
            <a:avLst>
              <a:gd name="adj" fmla="val 2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83480" y="5102352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Spark Ads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86600" y="5074920"/>
            <a:ext cx="2011680" cy="777240"/>
          </a:xfrm>
          <a:prstGeom prst="roundRect">
            <a:avLst>
              <a:gd name="adj" fmla="val 2000"/>
            </a:avLst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0" y="5102352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Amazon JP</a:t>
            </a:r>
            <a:br/>
            <a:r>
              <a:t>유입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35440" y="5074920"/>
            <a:ext cx="2011680" cy="777240"/>
          </a:xfrm>
          <a:prstGeom prst="roundRect">
            <a:avLst>
              <a:gd name="adj" fmla="val 2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81160" y="5102352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리뷰 확보 +</a:t>
            </a:r>
            <a:br/>
            <a:r>
              <a:t>판매 선순환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코스덕이 제공하는 운영 범위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68680"/>
            <a:ext cx="1645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2697480" cy="320040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269748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54480" y="1554480"/>
            <a:ext cx="640080" cy="6400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563EB"/>
                </a:solidFill>
                <a:latin typeface="Calibri"/>
              </a:defRPr>
            </a:pPr>
            <a:r>
              <a:t>시딩 운영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88920"/>
            <a:ext cx="2423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E293B"/>
                </a:solidFill>
                <a:latin typeface="Calibri"/>
              </a:defRPr>
            </a:pPr>
            <a:r>
              <a:t>•  인플루언서 리스트업 &amp; 섭외</a:t>
            </a:r>
          </a:p>
          <a:p>
            <a:pPr algn="l">
              <a:spcBef>
                <a:spcPts val="400"/>
              </a:spcBef>
              <a:defRPr sz="1050" b="0">
                <a:solidFill>
                  <a:srgbClr val="1E293B"/>
                </a:solidFill>
                <a:latin typeface="Calibri"/>
              </a:defRPr>
            </a:pPr>
            <a:r>
              <a:t>•  제품 배송 &amp; 콘텐츠 가이드</a:t>
            </a:r>
          </a:p>
          <a:p>
            <a:pPr algn="l">
              <a:spcBef>
                <a:spcPts val="400"/>
              </a:spcBef>
              <a:defRPr sz="1050" b="0">
                <a:solidFill>
                  <a:srgbClr val="1E293B"/>
                </a:solidFill>
                <a:latin typeface="Calibri"/>
              </a:defRPr>
            </a:pPr>
            <a:r>
              <a:t>•  TikTok / Instagram / YouTube</a:t>
            </a:r>
          </a:p>
          <a:p>
            <a:pPr algn="l">
              <a:spcBef>
                <a:spcPts val="400"/>
              </a:spcBef>
              <a:defRPr sz="1050" b="0">
                <a:solidFill>
                  <a:srgbClr val="1E293B"/>
                </a:solidFill>
                <a:latin typeface="Calibri"/>
              </a:defRPr>
            </a:pPr>
            <a:r>
              <a:t>•  성과 추적 &amp; 리포팅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371600"/>
            <a:ext cx="2697480" cy="320040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0440" y="1371600"/>
            <a:ext cx="2697480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34840" y="1554480"/>
            <a:ext cx="640080" cy="64008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233172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59669"/>
                </a:solidFill>
                <a:latin typeface="Calibri"/>
              </a:defRPr>
            </a:pPr>
            <a:r>
              <a:t>퍼포먼스 마케팅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788920"/>
            <a:ext cx="2423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E293B"/>
                </a:solidFill>
                <a:latin typeface="Calibri"/>
              </a:defRPr>
            </a:pPr>
            <a:r>
              <a:t>•  고성과 콘텐츠 Spark Ads</a:t>
            </a:r>
          </a:p>
          <a:p>
            <a:pPr algn="l">
              <a:spcBef>
                <a:spcPts val="400"/>
              </a:spcBef>
              <a:defRPr sz="1050" b="0">
                <a:solidFill>
                  <a:srgbClr val="1E293B"/>
                </a:solidFill>
                <a:latin typeface="Calibri"/>
              </a:defRPr>
            </a:pPr>
            <a:r>
              <a:t>•  TikTok / Meta 광고 운영</a:t>
            </a:r>
          </a:p>
          <a:p>
            <a:pPr algn="l">
              <a:spcBef>
                <a:spcPts val="400"/>
              </a:spcBef>
              <a:defRPr sz="1050" b="0">
                <a:solidFill>
                  <a:srgbClr val="1E293B"/>
                </a:solidFill>
                <a:latin typeface="Calibri"/>
              </a:defRPr>
            </a:pPr>
            <a:r>
              <a:t>•  타겟팅 최적화</a:t>
            </a:r>
          </a:p>
          <a:p>
            <a:pPr algn="l">
              <a:spcBef>
                <a:spcPts val="400"/>
              </a:spcBef>
              <a:defRPr sz="1050" b="0">
                <a:solidFill>
                  <a:srgbClr val="1E293B"/>
                </a:solidFill>
                <a:latin typeface="Calibri"/>
              </a:defRPr>
            </a:pPr>
            <a:r>
              <a:t>•  A/B 테스트 &amp; 크리에이티브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371600"/>
            <a:ext cx="2697480" cy="320040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371600"/>
            <a:ext cx="2697480" cy="640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0" y="1554480"/>
            <a:ext cx="640080" cy="64008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33172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D97706"/>
                </a:solidFill>
                <a:latin typeface="Calibri"/>
              </a:defRPr>
            </a:pPr>
            <a:r>
              <a:t>Amazon 연계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788920"/>
            <a:ext cx="2423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E293B"/>
                </a:solidFill>
                <a:latin typeface="Calibri"/>
              </a:defRPr>
            </a:pPr>
            <a:r>
              <a:t>•  Amazon SP / SB 광고 운영</a:t>
            </a:r>
          </a:p>
          <a:p>
            <a:pPr algn="l">
              <a:spcBef>
                <a:spcPts val="400"/>
              </a:spcBef>
              <a:defRPr sz="1050" b="0">
                <a:solidFill>
                  <a:srgbClr val="1E293B"/>
                </a:solidFill>
                <a:latin typeface="Calibri"/>
              </a:defRPr>
            </a:pPr>
            <a:r>
              <a:t>•  리스팅 최적화 (일본어)</a:t>
            </a:r>
          </a:p>
          <a:p>
            <a:pPr algn="l">
              <a:spcBef>
                <a:spcPts val="400"/>
              </a:spcBef>
              <a:defRPr sz="1050" b="0">
                <a:solidFill>
                  <a:srgbClr val="1E293B"/>
                </a:solidFill>
                <a:latin typeface="Calibri"/>
              </a:defRPr>
            </a:pPr>
            <a:r>
              <a:t>•  리뷰 확보 전략</a:t>
            </a:r>
          </a:p>
          <a:p>
            <a:pPr algn="l">
              <a:spcBef>
                <a:spcPts val="400"/>
              </a:spcBef>
              <a:defRPr sz="1050" b="0">
                <a:solidFill>
                  <a:srgbClr val="1E293B"/>
                </a:solidFill>
                <a:latin typeface="Calibri"/>
              </a:defRPr>
            </a:pPr>
            <a:r>
              <a:t>•  Attribution 추적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81160" y="1371600"/>
            <a:ext cx="2697480" cy="320040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81160" y="1371600"/>
            <a:ext cx="2697480" cy="64008"/>
          </a:xfrm>
          <a:prstGeom prst="rect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195560" y="1554480"/>
            <a:ext cx="640080" cy="640080"/>
          </a:xfrm>
          <a:prstGeom prst="ellipse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0" y="233172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F1B3D"/>
                </a:solidFill>
                <a:latin typeface="Calibri"/>
              </a:defRPr>
            </a:pPr>
            <a:r>
              <a:t>리포트 &amp; 분석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2788920"/>
            <a:ext cx="2423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E293B"/>
                </a:solidFill>
                <a:latin typeface="Calibri"/>
              </a:defRPr>
            </a:pPr>
            <a:r>
              <a:t>•  주간 / 월간 성과 리포트</a:t>
            </a:r>
          </a:p>
          <a:p>
            <a:pPr algn="l">
              <a:spcBef>
                <a:spcPts val="400"/>
              </a:spcBef>
              <a:defRPr sz="1050" b="0">
                <a:solidFill>
                  <a:srgbClr val="1E293B"/>
                </a:solidFill>
                <a:latin typeface="Calibri"/>
              </a:defRPr>
            </a:pPr>
            <a:r>
              <a:t>•  경쟁사 모니터링</a:t>
            </a:r>
          </a:p>
          <a:p>
            <a:pPr algn="l">
              <a:spcBef>
                <a:spcPts val="400"/>
              </a:spcBef>
              <a:defRPr sz="1050" b="0">
                <a:solidFill>
                  <a:srgbClr val="1E293B"/>
                </a:solidFill>
                <a:latin typeface="Calibri"/>
              </a:defRPr>
            </a:pPr>
            <a:r>
              <a:t>•  키워드 순위 트래킹</a:t>
            </a:r>
          </a:p>
          <a:p>
            <a:pPr algn="l">
              <a:spcBef>
                <a:spcPts val="400"/>
              </a:spcBef>
              <a:defRPr sz="1050" b="0">
                <a:solidFill>
                  <a:srgbClr val="1E293B"/>
                </a:solidFill>
                <a:latin typeface="Calibri"/>
              </a:defRPr>
            </a:pPr>
            <a:r>
              <a:t>•  ROI / ROAS 분석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937760"/>
            <a:ext cx="10881360" cy="777240"/>
          </a:xfrm>
          <a:prstGeom prst="roundRect">
            <a:avLst>
              <a:gd name="adj" fmla="val 2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02920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Amazon SP / SB 광고 직접 운영 가능  |  ROAS 20.9x 실적 보유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2563EB"/>
                </a:solidFill>
                <a:latin typeface="Calibri"/>
              </a:defRPr>
            </a:pPr>
            <a: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418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헤이홈의 일본 진출은</a:t>
            </a:r>
            <a:br/>
            <a:r>
              <a:t>단순 시딩 캄페인이 아니라,</a:t>
            </a:r>
          </a:p>
          <a:p>
            <a:pPr algn="l">
              <a:spcBef>
                <a:spcPts val="1200"/>
              </a:spcBef>
              <a:defRPr sz="2400" b="1">
                <a:solidFill>
                  <a:srgbClr val="2563EB"/>
                </a:solidFill>
                <a:latin typeface="Calibri"/>
              </a:defRPr>
            </a:pPr>
            <a:r>
              <a:t>일본 시장 반응을 검증하고</a:t>
            </a:r>
          </a:p>
          <a:p>
            <a:pPr algn="l">
              <a:spcBef>
                <a:spcPts val="400"/>
              </a:spcBef>
              <a:defRPr sz="2400" b="1">
                <a:solidFill>
                  <a:srgbClr val="2563EB"/>
                </a:solidFill>
                <a:latin typeface="Calibri"/>
              </a:defRPr>
            </a:pPr>
            <a:r>
              <a:t>Amazon Japan 판매 전환까지 연결하는</a:t>
            </a:r>
          </a:p>
          <a:p>
            <a:pPr algn="l">
              <a:spcBef>
                <a:spcPts val="1200"/>
              </a:spcBef>
              <a:defRPr sz="2400" b="0">
                <a:solidFill>
                  <a:srgbClr val="FFFFFF"/>
                </a:solidFill>
                <a:latin typeface="Calibri"/>
              </a:defRPr>
            </a:pPr>
            <a:r>
              <a:t>3개월 시장 진입 프로젝트로 설계해야 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572000"/>
            <a:ext cx="3017520" cy="1280160"/>
          </a:xfrm>
          <a:prstGeom prst="roundRect">
            <a:avLst>
              <a:gd name="adj" fmla="val 2000"/>
            </a:avLst>
          </a:prstGeom>
          <a:solidFill>
            <a:srgbClr val="1E3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4572000"/>
            <a:ext cx="30175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47091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563EB"/>
                </a:solidFill>
                <a:latin typeface="Calibri"/>
              </a:defRPr>
            </a:pPr>
            <a:r>
              <a:t>ROAS 20.9x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52578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코스덕 실적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4572000"/>
            <a:ext cx="3017520" cy="1280160"/>
          </a:xfrm>
          <a:prstGeom prst="roundRect">
            <a:avLst>
              <a:gd name="adj" fmla="val 2000"/>
            </a:avLst>
          </a:prstGeom>
          <a:solidFill>
            <a:srgbClr val="1E3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4572000"/>
            <a:ext cx="301752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47091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59669"/>
                </a:solidFill>
                <a:latin typeface="Calibri"/>
              </a:defRPr>
            </a:pPr>
            <a:r>
              <a:t>3개 마켓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52578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US / JP / AE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4572000"/>
            <a:ext cx="3017520" cy="1280160"/>
          </a:xfrm>
          <a:prstGeom prst="roundRect">
            <a:avLst>
              <a:gd name="adj" fmla="val 2000"/>
            </a:avLst>
          </a:prstGeom>
          <a:solidFill>
            <a:srgbClr val="1E3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4572000"/>
            <a:ext cx="301752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9560" y="47091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D97706"/>
                </a:solidFill>
                <a:latin typeface="Calibri"/>
              </a:defRPr>
            </a:pPr>
            <a:r>
              <a:t>78%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52578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JP 광고비 절감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다음 단계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68680"/>
            <a:ext cx="16459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141732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4475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69848" y="1965960"/>
            <a:ext cx="54864" cy="228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645920" y="1371600"/>
            <a:ext cx="5943600" cy="59436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45920" y="1371600"/>
            <a:ext cx="54864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14630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Calibri"/>
              </a:defRPr>
            </a:pPr>
            <a:r>
              <a:t>1차 시장 · 경쟁사 리서치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194560"/>
            <a:ext cx="548640" cy="5486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22199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69848" y="2743200"/>
            <a:ext cx="54864" cy="228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645920" y="2148840"/>
            <a:ext cx="5943600" cy="59436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645920" y="2148840"/>
            <a:ext cx="54864" cy="5943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74519" y="22402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Calibri"/>
              </a:defRPr>
            </a:pPr>
            <a:r>
              <a:t>Amazon JP 입점 준비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2971800"/>
            <a:ext cx="548640" cy="54864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99923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69848" y="3520440"/>
            <a:ext cx="54864" cy="228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645920" y="2926080"/>
            <a:ext cx="5943600" cy="59436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645920" y="2926080"/>
            <a:ext cx="54864" cy="5943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74519" y="30175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Calibri"/>
              </a:defRPr>
            </a:pPr>
            <a:r>
              <a:t>시딩 카테고리 확정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3749040"/>
            <a:ext cx="548640" cy="548640"/>
          </a:xfrm>
          <a:prstGeom prst="ellipse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77647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69848" y="4297680"/>
            <a:ext cx="54864" cy="228600"/>
          </a:xfrm>
          <a:prstGeom prst="rect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645920" y="3703320"/>
            <a:ext cx="5943600" cy="59436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645920" y="3703320"/>
            <a:ext cx="54864" cy="594360"/>
          </a:xfrm>
          <a:prstGeom prst="rect">
            <a:avLst/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74519" y="37947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Calibri"/>
              </a:defRPr>
            </a:pPr>
            <a:r>
              <a:t>제품 샘플 / 예산 확정</a:t>
            </a:r>
          </a:p>
        </p:txBody>
      </p:sp>
      <p:sp>
        <p:nvSpPr>
          <p:cNvPr id="29" name="Oval 28"/>
          <p:cNvSpPr/>
          <p:nvPr/>
        </p:nvSpPr>
        <p:spPr>
          <a:xfrm>
            <a:off x="822960" y="452628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55371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645920" y="4480560"/>
            <a:ext cx="5943600" cy="59436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645920" y="4480560"/>
            <a:ext cx="54864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74519" y="45720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Calibri"/>
              </a:defRPr>
            </a:pPr>
            <a:r>
              <a:t>3개월 운영안 확정 &amp; 킥오프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5120640"/>
            <a:ext cx="10881360" cy="1371600"/>
          </a:xfrm>
          <a:prstGeom prst="roundRect">
            <a:avLst>
              <a:gd name="adj" fmla="val 2000"/>
            </a:avLst>
          </a:prstGeom>
          <a:solidFill>
            <a:srgbClr val="0F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5212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(주)마야크루  Cosduck | 코스덕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5577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손혜빈  Winter  ·  Amazon Team Lead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5897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563EB"/>
                </a:solidFill>
                <a:latin typeface="Calibri"/>
              </a:defRPr>
            </a:pPr>
            <a:r>
              <a:t>+82 10 2771 6401  ·  winter@cosduck.com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